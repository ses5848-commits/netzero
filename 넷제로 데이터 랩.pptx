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59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FDC92447-B1EC-4B3B-B761-2FE88C7906C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>
        <p:scale>
          <a:sx n="70" d="100"/>
          <a:sy n="70" d="100"/>
        </p:scale>
        <p:origin x="0" y="0"/>
      </p:cViewPr>
      <p:guideLst>
        <p:guide orient="horz" pos="2159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presProps" Target="presProps.xml"  /><Relationship Id="rId17" Type="http://schemas.openxmlformats.org/officeDocument/2006/relationships/viewProps" Target="viewProps.xml"  /><Relationship Id="rId18" Type="http://schemas.openxmlformats.org/officeDocument/2006/relationships/theme" Target="theme/theme1.xml"  /><Relationship Id="rId19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>
              <a:defRPr/>
            </a:pPr>
            <a:endParaRPr lang="ko-KR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Title and Content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Two Content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Compariso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Content with Caption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Picture with Caption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Title and Vertical Text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2.png"  /><Relationship Id="rId4" Type="http://schemas.openxmlformats.org/officeDocument/2006/relationships/image" Target="../media/image4.png"  /><Relationship Id="rId5" Type="http://schemas.openxmlformats.org/officeDocument/2006/relationships/image" Target="../media/image5.png"  /><Relationship Id="rId6" Type="http://schemas.openxmlformats.org/officeDocument/2006/relationships/image" Target="../media/image6.png"  /><Relationship Id="rId7" Type="http://schemas.openxmlformats.org/officeDocument/2006/relationships/image" Target="../media/image7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2.png"  /><Relationship Id="rId4" Type="http://schemas.openxmlformats.org/officeDocument/2006/relationships/image" Target="../media/image8.png"  /><Relationship Id="rId5" Type="http://schemas.openxmlformats.org/officeDocument/2006/relationships/image" Target="../media/image9.png"  /><Relationship Id="rId6" Type="http://schemas.openxmlformats.org/officeDocument/2006/relationships/image" Target="../media/image10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12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13.png"  /><Relationship Id="rId5" Type="http://schemas.openxmlformats.org/officeDocument/2006/relationships/image" Target="../media/image14.png"  /><Relationship Id="rId6" Type="http://schemas.openxmlformats.org/officeDocument/2006/relationships/image" Target="../media/image15.png"  /><Relationship Id="rId7" Type="http://schemas.openxmlformats.org/officeDocument/2006/relationships/image" Target="../media/image16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17.png"  /><Relationship Id="rId4" Type="http://schemas.openxmlformats.org/officeDocument/2006/relationships/image" Target="../media/image18.png"  /><Relationship Id="rId5" Type="http://schemas.openxmlformats.org/officeDocument/2006/relationships/image" Target="../media/image19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9.xml"  /><Relationship Id="rId3" Type="http://schemas.openxmlformats.org/officeDocument/2006/relationships/image" Target="../media/image2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Relationship Id="rId4" Type="http://schemas.openxmlformats.org/officeDocument/2006/relationships/image" Target="../media/image20.png"  /><Relationship Id="rId5" Type="http://schemas.openxmlformats.org/officeDocument/2006/relationships/image" Target="../media/image21.png"  /><Relationship Id="rId6" Type="http://schemas.openxmlformats.org/officeDocument/2006/relationships/image" Target="../media/image22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7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9357634" y="6370409"/>
            <a:ext cx="1918150" cy="2208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00" b="0" i="0" u="none" strike="noStrike" cap="none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일반부문 | </a:t>
            </a:r>
            <a:r>
              <a:rPr lang="ko-KR" altLang="en-US" sz="1500" b="0" i="0" u="none" strike="noStrike" cap="none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김홍진</a:t>
            </a:r>
            <a:endParaRPr lang="ko-KR" altLang="en-US" sz="1500" b="0" i="0" u="none" strike="noStrike" cap="none">
              <a:solidFill>
                <a:srgbClr val="94a3b8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395287" y="1918394"/>
            <a:ext cx="11401425" cy="31998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제8회 교육 공공데이터</a:t>
            </a:r>
            <a:r>
              <a:rPr lang="ko-KR" altLang="en-US" sz="210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10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AI 활용대회</a:t>
            </a:r>
            <a:endParaRPr lang="en-US" sz="2100" b="1" i="0" u="none" strike="noStrike" cap="none">
              <a:solidFill>
                <a:srgbClr val="475569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395287" y="2489894"/>
            <a:ext cx="11401425" cy="142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넷제로 데이터 랩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510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Net-Zero Data Lab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66750" y="4295775"/>
            <a:ext cx="10858500" cy="396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공공데이터와 AI로 구현하는 과정 중심 데이터 리터러시 플랫폼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추진 배경: 기후 위기 시대의 데이터 문해력</a:t>
            </a:r>
            <a:endParaRPr/>
          </a:p>
        </p:txBody>
      </p:sp>
      <p:sp>
        <p:nvSpPr>
          <p:cNvPr id="96" name="Google Shape;96;p14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666750" y="2100262"/>
            <a:ext cx="545068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정적인 환경 교육의 한계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047748" y="2520722"/>
            <a:ext cx="5680982" cy="2184628"/>
          </a:xfrm>
          <a:prstGeom prst="rect">
            <a:avLst/>
          </a:prstGeom>
          <a:noFill/>
          <a:ln>
            <a:noFill/>
          </a:ln>
        </p:spPr>
        <p:txBody>
          <a:bodyPr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·</a:t>
            </a:r>
            <a:r>
              <a:rPr lang="ko-KR" altLang="en-US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이론 중심의 일방향적 환경 교육으로 인한 학습 몰입도 저하</a:t>
            </a:r>
            <a:endParaRPr lang="en-US" sz="1500" b="0" i="0" u="none" strike="noStrike" cap="none">
              <a:solidFill>
                <a:srgbClr val="475569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·</a:t>
            </a:r>
            <a:r>
              <a:rPr lang="ko-KR" altLang="en-US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공공데이터에 대한 접근성은 높으나 실제 교육 현장 활용 사례 부족</a:t>
            </a:r>
            <a:endParaRPr lang="en-US" sz="1500" b="0" i="0" u="none" strike="noStrike" cap="none">
              <a:solidFill>
                <a:srgbClr val="475569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·</a:t>
            </a:r>
            <a:r>
              <a:rPr lang="ko-KR" altLang="en-US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0" i="0" u="none" strike="noStrike" cap="non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학생들이 직접 데이터를 생산하고 분석하는 실질적 경험의 부재</a:t>
            </a:r>
            <a:endParaRPr lang="en-US" sz="1500" b="0" i="0" u="none" strike="noStrike" cap="none">
              <a:solidFill>
                <a:srgbClr val="475569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en-US" sz="1500" b="0" i="0" u="none" strike="noStrike" cap="none">
              <a:solidFill>
                <a:srgbClr val="475569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en-US" sz="1500" b="0" i="0" u="none" strike="noStrike" cap="none">
              <a:solidFill>
                <a:srgbClr val="475569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en-US" sz="1500" b="0" i="0" u="none" strike="noStrike" cap="none">
              <a:solidFill>
                <a:srgbClr val="475569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926034" y="1947898"/>
            <a:ext cx="5009066" cy="36312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6750" y="2667000"/>
            <a:ext cx="5191125" cy="2486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2667000"/>
            <a:ext cx="5191125" cy="2486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시장 니즈: 교사와 학생의 페인 포인트(PAIN POINT)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14" name="Google Shape;114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024187" y="2962275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847010" y="3533775"/>
            <a:ext cx="483060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교사의 행정 부담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962025" y="4057650"/>
            <a:ext cx="46005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학생 개별 활동 기록 및 생활기록부 세특 작성을 위한 정성적 평가 데이터 부족 및 시간 과부하</a:t>
            </a:r>
            <a:endParaRPr/>
          </a:p>
        </p:txBody>
      </p:sp>
      <p:pic>
        <p:nvPicPr>
          <p:cNvPr descr="image.png" id="117" name="Google Shape;117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0" y="2962275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6514385" y="3533775"/>
            <a:ext cx="483060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학생의 학습 경험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6629400" y="4057650"/>
            <a:ext cx="46005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데이터 리터러시 역량 강화의 필요성은 높으나, 실생활과 밀접한 데이터 탐구 도구의 부재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4" name="Google Shape;12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서비스 개념: 탐험하며 성장하는 데이터 리터러시</a:t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666750" y="3152775"/>
            <a:ext cx="5191125" cy="1514475"/>
          </a:xfrm>
          <a:prstGeom prst="roundRect">
            <a:avLst>
              <a:gd fmla="val 7547" name="adj"/>
            </a:avLst>
          </a:prstGeom>
          <a:solidFill>
            <a:srgbClr val="F1F5F9"/>
          </a:solidFill>
          <a:ln cap="flat" cmpd="sng" w="190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 txBox="1"/>
          <p:nvPr/>
        </p:nvSpPr>
        <p:spPr>
          <a:xfrm>
            <a:off x="6334125" y="3152775"/>
            <a:ext cx="5450681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Net-Zero Data Lab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6334125" y="3562350"/>
            <a:ext cx="51911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Big6 정보활용모델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을 웹 플랫폼에 이식하여, 학생들이 데이터 탐정이 되어 기후 위기 데이터를 사냥하고 AI의 도움을 받아 성찰하는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온라인 탐구 전용 스튜디오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입니다.</a:t>
            </a:r>
            <a:endParaRPr/>
          </a:p>
        </p:txBody>
      </p:sp>
      <p:sp>
        <p:nvSpPr>
          <p:cNvPr id="130" name="가로 글상자 129"/>
          <p:cNvSpPr txBox="1"/>
          <p:nvPr/>
        </p:nvSpPr>
        <p:spPr>
          <a:xfrm>
            <a:off x="760866" y="3429000"/>
            <a:ext cx="4909911" cy="293370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링크 입력</a:t>
            </a:r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6750" y="2543175"/>
            <a:ext cx="34607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65575" y="2543175"/>
            <a:ext cx="34607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2543175"/>
            <a:ext cx="3460849" cy="1857375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교육적 설계: BIG6 정보활용모델의 플랫폼화</a:t>
            </a:r>
            <a:endParaRPr/>
          </a:p>
        </p:txBody>
      </p:sp>
      <p:sp>
        <p:nvSpPr>
          <p:cNvPr id="139" name="Google Shape;139;p17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666750" y="4781550"/>
            <a:ext cx="10858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단순한 결과물이 아닌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'과정 중심 평가'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가 가능한 단계적 UI 설계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890271" y="2838450"/>
            <a:ext cx="301365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Step 1-2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962025" y="3305175"/>
            <a:ext cx="28701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미션 정의 및 데이터 탐색 전략 수립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4589096" y="2838450"/>
            <a:ext cx="301365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Step 3-4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4660850" y="3305175"/>
            <a:ext cx="28701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공공데이터 수집 및 차트 시각화 분석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287918" y="2838450"/>
            <a:ext cx="3013814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Step 5-6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8359675" y="3305175"/>
            <a:ext cx="2870299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지식 공유(인포그래픽) 및 AI 기반 성찰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8" descr="imag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공공데이터 활용 (1): 실시간 국가 데이터 연동</a:t>
            </a:r>
            <a:endParaRPr/>
          </a:p>
        </p:txBody>
      </p:sp>
      <p:sp>
        <p:nvSpPr>
          <p:cNvPr id="154" name="Google Shape;154;p18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 txBox="1"/>
          <p:nvPr/>
        </p:nvSpPr>
        <p:spPr>
          <a:xfrm>
            <a:off x="666750" y="2190750"/>
            <a:ext cx="545068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연동 데이터 API 목록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981075" y="261937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1047750" y="2619375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기상청 자료개방포털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: 기온 변화 추이 데이터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981075" y="292417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1047750" y="2924175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한국환경공단(에어코리아)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: 실시간 대기오염도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981075" y="322897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162" name="Google Shape;162;p18"/>
          <p:cNvSpPr txBox="1"/>
          <p:nvPr/>
        </p:nvSpPr>
        <p:spPr>
          <a:xfrm>
            <a:off x="1047750" y="3228975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공공데이터포털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: 지역별 탄소 배출량 통계</a:t>
            </a:r>
            <a:endParaRPr/>
          </a:p>
        </p:txBody>
      </p:sp>
      <p:pic>
        <p:nvPicPr>
          <p:cNvPr id="164" name="그림 16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205186" y="1643839"/>
            <a:ext cx="6294665" cy="40465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9" descr="imag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9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공공데이터 활용 (2): 학생 생성 데이터의 가치</a:t>
            </a:r>
            <a:endParaRPr/>
          </a:p>
        </p:txBody>
      </p:sp>
      <p:sp>
        <p:nvSpPr>
          <p:cNvPr id="170" name="Google Shape;170;p19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6334125" y="3133725"/>
            <a:ext cx="545068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데이터의 융합과 축적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6334125" y="3581400"/>
            <a:ext cx="51911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국가 공공데이터뿐만 아니라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학생들이 직접 입력하는 뉴스 토론 댓글, 환경 설문조사, 탐구 질문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 등의 비정형 데이터를 정형화하여 학교/학급 단위의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'작은 공공데이터'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로 재생산합니다.</a:t>
            </a:r>
            <a:endParaRPr/>
          </a:p>
        </p:txBody>
      </p:sp>
      <p:pic>
        <p:nvPicPr>
          <p:cNvPr id="174" name="그림 173"/>
          <p:cNvPicPr/>
          <p:nvPr/>
        </p:nvPicPr>
        <p:blipFill rotWithShape="1">
          <a:blip r:embed="rId4"/>
          <a:stretch>
            <a:fillRect/>
          </a:stretch>
        </p:blipFill>
        <p:spPr>
          <a:xfrm>
            <a:off x="490354" y="1538786"/>
            <a:ext cx="2520315" cy="2484310"/>
          </a:xfrm>
          <a:prstGeom prst="rect">
            <a:avLst/>
          </a:prstGeom>
        </p:spPr>
      </p:pic>
      <p:pic>
        <p:nvPicPr>
          <p:cNvPr id="175" name="그림 174"/>
          <p:cNvPicPr/>
          <p:nvPr/>
        </p:nvPicPr>
        <p:blipFill rotWithShape="1">
          <a:blip r:embed="rId5"/>
          <a:stretch>
            <a:fillRect/>
          </a:stretch>
        </p:blipFill>
        <p:spPr>
          <a:xfrm>
            <a:off x="3054077" y="1528255"/>
            <a:ext cx="2520315" cy="2484310"/>
          </a:xfrm>
          <a:prstGeom prst="rect">
            <a:avLst/>
          </a:prstGeom>
        </p:spPr>
      </p:pic>
      <p:pic>
        <p:nvPicPr>
          <p:cNvPr id="176" name="그림 175"/>
          <p:cNvPicPr/>
          <p:nvPr/>
        </p:nvPicPr>
        <p:blipFill rotWithShape="1">
          <a:blip r:embed="rId6"/>
          <a:stretch>
            <a:fillRect/>
          </a:stretch>
        </p:blipFill>
        <p:spPr>
          <a:xfrm>
            <a:off x="516614" y="4024091"/>
            <a:ext cx="2520315" cy="2484310"/>
          </a:xfrm>
          <a:prstGeom prst="rect">
            <a:avLst/>
          </a:prstGeom>
        </p:spPr>
      </p:pic>
      <p:pic>
        <p:nvPicPr>
          <p:cNvPr id="177" name="그림 176"/>
          <p:cNvPicPr/>
          <p:nvPr/>
        </p:nvPicPr>
        <p:blipFill rotWithShape="1">
          <a:blip r:embed="rId7"/>
          <a:stretch>
            <a:fillRect/>
          </a:stretch>
        </p:blipFill>
        <p:spPr>
          <a:xfrm>
            <a:off x="3055572" y="4024965"/>
            <a:ext cx="2520315" cy="24843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5E20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8" name="Google Shape;17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133725"/>
            <a:ext cx="5191125" cy="155257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0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AI 혁신 기술 (1): 비정형 데이터 분석 엔진</a:t>
            </a:r>
            <a:endParaRPr/>
          </a:p>
        </p:txBody>
      </p:sp>
      <p:sp>
        <p:nvSpPr>
          <p:cNvPr id="181" name="Google Shape;181;p20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 txBox="1"/>
          <p:nvPr/>
        </p:nvSpPr>
        <p:spPr>
          <a:xfrm>
            <a:off x="666750" y="3133725"/>
            <a:ext cx="545068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NLP 기반 활동 로그 분석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666750" y="3581400"/>
            <a:ext cx="51911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Noto Sans KR"/>
                <a:ea typeface="Noto Sans KR"/>
                <a:cs typeface="Noto Sans KR"/>
                <a:sym typeface="Noto Sans KR"/>
              </a:rPr>
              <a:t>학생이 남긴 방대한 양의 텍스트 로그(뉴스 댓글, 질문, 해석 요약)를 LLM(거대언어모델) API를 통해 실시간 분석하여 학습자의 </a:t>
            </a:r>
            <a:r>
              <a:rPr b="1" i="0" lang="en-US" sz="1500" u="none" cap="none" strike="noStrike">
                <a:solidFill>
                  <a:srgbClr val="DAFFDE"/>
                </a:solidFill>
                <a:latin typeface="Noto Sans KR"/>
                <a:ea typeface="Noto Sans KR"/>
                <a:cs typeface="Noto Sans KR"/>
                <a:sym typeface="Noto Sans KR"/>
              </a:rPr>
              <a:t>비판적 사고력</a:t>
            </a:r>
            <a:r>
              <a:rPr b="0" i="0" lang="en-US" sz="1500" u="none" cap="none" strike="noStrike">
                <a:solidFill>
                  <a:srgbClr val="DAFFDE"/>
                </a:solidFill>
                <a:latin typeface="Noto Sans KR"/>
                <a:ea typeface="Noto Sans KR"/>
                <a:cs typeface="Noto Sans KR"/>
                <a:sym typeface="Noto Sans KR"/>
              </a:rPr>
              <a:t>과 </a:t>
            </a:r>
            <a:r>
              <a:rPr b="1" i="0" lang="en-US" sz="1500" u="none" cap="none" strike="noStrike">
                <a:solidFill>
                  <a:srgbClr val="DAFFDE"/>
                </a:solidFill>
                <a:latin typeface="Noto Sans KR"/>
                <a:ea typeface="Noto Sans KR"/>
                <a:cs typeface="Noto Sans KR"/>
                <a:sym typeface="Noto Sans KR"/>
              </a:rPr>
              <a:t>정보 처리 역량</a:t>
            </a:r>
            <a:r>
              <a:rPr b="0" i="0" lang="en-US" sz="1500" u="none" cap="none" strike="noStrike">
                <a:solidFill>
                  <a:srgbClr val="DAFFDE"/>
                </a:solidFill>
                <a:latin typeface="Noto Sans KR"/>
                <a:ea typeface="Noto Sans KR"/>
                <a:cs typeface="Noto Sans KR"/>
                <a:sym typeface="Noto Sans KR"/>
              </a:rPr>
              <a:t>을 수치화합니다.</a:t>
            </a:r>
            <a:endParaRPr/>
          </a:p>
        </p:txBody>
      </p:sp>
      <p:pic>
        <p:nvPicPr>
          <p:cNvPr descr="image.png" id="184" name="Google Shape;18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53175" y="3152775"/>
            <a:ext cx="5153025" cy="151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9" name="Google Shape;18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1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AI 혁신 기술 (2): AI 생기부 초안 생성기</a:t>
            </a:r>
            <a:endParaRPr/>
          </a:p>
        </p:txBody>
      </p:sp>
      <p:sp>
        <p:nvSpPr>
          <p:cNvPr id="191" name="Google Shape;191;p21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1"/>
          <p:cNvSpPr/>
          <p:nvPr/>
        </p:nvSpPr>
        <p:spPr>
          <a:xfrm>
            <a:off x="666750" y="2905125"/>
            <a:ext cx="5191125" cy="2009775"/>
          </a:xfrm>
          <a:prstGeom prst="roundRect">
            <a:avLst>
              <a:gd fmla="val 5687" name="adj"/>
            </a:avLst>
          </a:prstGeom>
          <a:solidFill>
            <a:srgbClr val="F1F5F9"/>
          </a:solidFill>
          <a:ln cap="flat" cmpd="sng" w="190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1"/>
          <p:cNvSpPr txBox="1"/>
          <p:nvPr/>
        </p:nvSpPr>
        <p:spPr>
          <a:xfrm>
            <a:off x="6334125" y="2905125"/>
            <a:ext cx="545068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교사 행정 업무의 혁신적 절감</a:t>
            </a:r>
            <a:endParaRPr/>
          </a:p>
        </p:txBody>
      </p:sp>
      <p:sp>
        <p:nvSpPr>
          <p:cNvPr id="194" name="Google Shape;194;p21"/>
          <p:cNvSpPr txBox="1"/>
          <p:nvPr/>
        </p:nvSpPr>
        <p:spPr>
          <a:xfrm>
            <a:off x="6334125" y="4419600"/>
            <a:ext cx="5191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1B5E20"/>
                </a:solidFill>
                <a:latin typeface="Noto Sans KR"/>
                <a:ea typeface="Noto Sans KR"/>
                <a:cs typeface="Noto Sans KR"/>
                <a:sym typeface="Noto Sans KR"/>
              </a:rPr>
              <a:t>"교사의 관찰 기록에 객관적 데이터의 힘을 더합니다."</a:t>
            </a:r>
            <a:endParaRPr/>
          </a:p>
        </p:txBody>
      </p:sp>
      <p:sp>
        <p:nvSpPr>
          <p:cNvPr id="195" name="Google Shape;195;p21"/>
          <p:cNvSpPr txBox="1"/>
          <p:nvPr/>
        </p:nvSpPr>
        <p:spPr>
          <a:xfrm>
            <a:off x="6648450" y="331470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6715125" y="3314700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학생별 활동 로그 데이터 매핑 알고리즘</a:t>
            </a:r>
            <a:endParaRPr/>
          </a:p>
        </p:txBody>
      </p:sp>
      <p:sp>
        <p:nvSpPr>
          <p:cNvPr id="197" name="Google Shape;197;p21"/>
          <p:cNvSpPr txBox="1"/>
          <p:nvPr/>
        </p:nvSpPr>
        <p:spPr>
          <a:xfrm>
            <a:off x="6648450" y="361950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6715125" y="3619500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교육부 핵심 역량 연계 키워드 추출</a:t>
            </a: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6648450" y="392430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6715125" y="3924300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개인별 맞춤형 세특(생활기록부) 초안 자동 생성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5" name="Google Shape;20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2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학습 몰입: 게이미피케이션 및 마이페이지</a:t>
            </a: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2"/>
          <p:cNvSpPr txBox="1"/>
          <p:nvPr/>
        </p:nvSpPr>
        <p:spPr>
          <a:xfrm>
            <a:off x="666750" y="5424487"/>
            <a:ext cx="10858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배지 시스템(질문 술사 ~ 최종 마스터)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을 통한 자기주도적 완주 유도</a:t>
            </a:r>
            <a:endParaRPr/>
          </a:p>
        </p:txBody>
      </p:sp>
      <p:pic>
        <p:nvPicPr>
          <p:cNvPr id="212" name="그림 211"/>
          <p:cNvPicPr/>
          <p:nvPr/>
        </p:nvPicPr>
        <p:blipFill rotWithShape="1">
          <a:blip r:embed="rId4"/>
          <a:stretch>
            <a:fillRect/>
          </a:stretch>
        </p:blipFill>
        <p:spPr>
          <a:xfrm>
            <a:off x="666478" y="1873281"/>
            <a:ext cx="3384423" cy="3492436"/>
          </a:xfrm>
          <a:prstGeom prst="rect">
            <a:avLst/>
          </a:prstGeom>
        </p:spPr>
      </p:pic>
      <p:pic>
        <p:nvPicPr>
          <p:cNvPr id="213" name="그림 212"/>
          <p:cNvPicPr/>
          <p:nvPr/>
        </p:nvPicPr>
        <p:blipFill rotWithShape="1">
          <a:blip r:embed="rId5"/>
          <a:stretch>
            <a:fillRect/>
          </a:stretch>
        </p:blipFill>
        <p:spPr>
          <a:xfrm>
            <a:off x="4403788" y="1858975"/>
            <a:ext cx="3384423" cy="3492436"/>
          </a:xfrm>
          <a:prstGeom prst="rect">
            <a:avLst/>
          </a:prstGeom>
        </p:spPr>
      </p:pic>
      <p:pic>
        <p:nvPicPr>
          <p:cNvPr id="214" name="그림 213"/>
          <p:cNvPicPr/>
          <p:nvPr/>
        </p:nvPicPr>
        <p:blipFill rotWithShape="1">
          <a:blip r:embed="rId6"/>
          <a:stretch>
            <a:fillRect/>
          </a:stretch>
        </p:blipFill>
        <p:spPr>
          <a:xfrm>
            <a:off x="7995833" y="1864203"/>
            <a:ext cx="3384423" cy="34924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6" name="Google Shape;21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3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사용자 여정: 학생과 교사의 상호작용</a:t>
            </a:r>
            <a:endParaRPr/>
          </a:p>
        </p:txBody>
      </p:sp>
      <p:sp>
        <p:nvSpPr>
          <p:cNvPr id="218" name="Google Shape;218;p23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9" name="Google Shape;219;p23"/>
          <p:cNvGraphicFramePr/>
          <p:nvPr/>
        </p:nvGraphicFramePr>
        <p:xfrm>
          <a:off x="666750" y="28194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{FDC92447-B1EC-4B3B-B761-2FE88C7906CC}</a:tableStyleId>
              </a:tblPr>
              <a:tblGrid>
                <a:gridCol w="1020525"/>
                <a:gridCol w="4537325"/>
                <a:gridCol w="5291125"/>
              </a:tblGrid>
              <a:tr h="5453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단계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학생 활동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교사/AI 지원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준비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사전 설문 및 모둠 합류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학급 역량 사전 분석 데이터 제공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탐구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공공데이터 수집 및 그래프 시각화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데이터 해석 가이드 및 질문 마법사 지원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평가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최종 성찰 및 수료증 획득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AI 세특 초안 자동 생성 및 대시보드 관리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4" name="Google Shape;22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4"/>
          <p:cNvSpPr txBox="1"/>
          <p:nvPr/>
        </p:nvSpPr>
        <p:spPr>
          <a:xfrm>
            <a:off x="857250" y="476250"/>
            <a:ext cx="11201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확장성: 에듀테크 생태계로의 발전</a:t>
            </a:r>
            <a:endParaRPr/>
          </a:p>
        </p:txBody>
      </p:sp>
      <p:sp>
        <p:nvSpPr>
          <p:cNvPr id="226" name="Google Shape;226;p24"/>
          <p:cNvSpPr/>
          <p:nvPr/>
        </p:nvSpPr>
        <p:spPr>
          <a:xfrm>
            <a:off x="666750" y="476250"/>
            <a:ext cx="95250" cy="5810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4"/>
          <p:cNvSpPr txBox="1"/>
          <p:nvPr/>
        </p:nvSpPr>
        <p:spPr>
          <a:xfrm>
            <a:off x="666750" y="3171825"/>
            <a:ext cx="545068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B5E20"/>
                </a:solidFill>
                <a:latin typeface="Urbanist"/>
                <a:ea typeface="Urbanist"/>
                <a:cs typeface="Urbanist"/>
                <a:sym typeface="Urbanist"/>
              </a:rPr>
              <a:t>범용성 및 수익 모델</a:t>
            </a:r>
            <a:endParaRPr/>
          </a:p>
        </p:txBody>
      </p:sp>
      <p:sp>
        <p:nvSpPr>
          <p:cNvPr id="229" name="Google Shape;229;p24"/>
          <p:cNvSpPr txBox="1"/>
          <p:nvPr/>
        </p:nvSpPr>
        <p:spPr>
          <a:xfrm>
            <a:off x="981075" y="358140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230" name="Google Shape;230;p24"/>
          <p:cNvSpPr txBox="1"/>
          <p:nvPr/>
        </p:nvSpPr>
        <p:spPr>
          <a:xfrm>
            <a:off x="1047750" y="3581400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범용성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: 과학 외 사회, 수학 등 전 교과 데이터 교육 확장 가능</a:t>
            </a:r>
            <a:endParaRPr/>
          </a:p>
        </p:txBody>
      </p:sp>
      <p:sp>
        <p:nvSpPr>
          <p:cNvPr id="231" name="Google Shape;231;p24"/>
          <p:cNvSpPr txBox="1"/>
          <p:nvPr/>
        </p:nvSpPr>
        <p:spPr>
          <a:xfrm>
            <a:off x="981075" y="388620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232" name="Google Shape;232;p24"/>
          <p:cNvSpPr txBox="1"/>
          <p:nvPr/>
        </p:nvSpPr>
        <p:spPr>
          <a:xfrm>
            <a:off x="1047750" y="3886200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B2G 모델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: 시도교육청 단위의 교육 플랫폼 SaaS 공급</a:t>
            </a:r>
            <a:endParaRPr/>
          </a:p>
        </p:txBody>
      </p:sp>
      <p:sp>
        <p:nvSpPr>
          <p:cNvPr id="233" name="Google Shape;233;p24"/>
          <p:cNvSpPr txBox="1"/>
          <p:nvPr/>
        </p:nvSpPr>
        <p:spPr>
          <a:xfrm>
            <a:off x="981075" y="419100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234" name="Google Shape;234;p24"/>
          <p:cNvSpPr txBox="1"/>
          <p:nvPr/>
        </p:nvSpPr>
        <p:spPr>
          <a:xfrm>
            <a:off x="1047750" y="4191000"/>
            <a:ext cx="48101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커스터마이징</a:t>
            </a:r>
            <a:r>
              <a:rPr b="0" i="0" lang="en-US" sz="1500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: 학교별 특색 환경 주제에 맞춘 탐구 모듈 제공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3" name="Google Shape;26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7"/>
          <p:cNvSpPr txBox="1"/>
          <p:nvPr/>
        </p:nvSpPr>
        <p:spPr>
          <a:xfrm>
            <a:off x="395287" y="1127819"/>
            <a:ext cx="11401425" cy="712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넷제로 데이터 랩</a:t>
            </a:r>
            <a:endParaRPr/>
          </a:p>
        </p:txBody>
      </p:sp>
      <p:sp>
        <p:nvSpPr>
          <p:cNvPr id="265" name="Google Shape;265;p27"/>
          <p:cNvSpPr txBox="1"/>
          <p:nvPr/>
        </p:nvSpPr>
        <p:spPr>
          <a:xfrm>
            <a:off x="666750" y="2430809"/>
            <a:ext cx="10858500" cy="9751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"데이터로 읽고 AI로 기록하는,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400" u="none" cap="none" strike="noStrike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지속 가능한 미래 교육의 시작입니다."</a:t>
            </a:r>
            <a:endParaRPr/>
          </a:p>
        </p:txBody>
      </p:sp>
      <p:sp>
        <p:nvSpPr>
          <p:cNvPr id="266" name="Google Shape;266;p27"/>
          <p:cNvSpPr txBox="1"/>
          <p:nvPr/>
        </p:nvSpPr>
        <p:spPr>
          <a:xfrm>
            <a:off x="395287" y="4663231"/>
            <a:ext cx="114014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감사합니다.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0</ep:Words>
  <ep:PresentationFormat/>
  <ep:Paragraphs>0</ep:Paragraphs>
  <ep:Slides>13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ep:HeadingPairs>
  <ep:TitlesOfParts>
    <vt:vector size="14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user</cp:lastModifiedBy>
  <dcterms:modified xsi:type="dcterms:W3CDTF">2026-05-15T07:49:35.731</dcterms:modified>
  <cp:revision>7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
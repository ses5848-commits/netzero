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FDC92447-B1EC-4B3B-B761-2FE88C7906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2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Relationship Id="rId7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hyperlink" Target="https://ses5848-commits.github.io/netzero/" TargetMode="External"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Relationship Id="rId6" Type="http://schemas.openxmlformats.org/officeDocument/2006/relationships/image" Target="../media/image15.png"  /><Relationship Id="rId7" Type="http://schemas.openxmlformats.org/officeDocument/2006/relationships/image" Target="../media/image1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2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3.png"  /><Relationship Id="rId7" Type="http://schemas.openxmlformats.org/officeDocument/2006/relationships/image" Target="../media/image24.png"  /><Relationship Id="rId8" Type="http://schemas.openxmlformats.org/officeDocument/2006/relationships/image" Target="../media/image25.png"  /><Relationship Id="rId9" Type="http://schemas.openxmlformats.org/officeDocument/2006/relationships/image" Target="../media/image2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357634" y="6370409"/>
            <a:ext cx="1918150" cy="2208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일반부문 | </a:t>
            </a:r>
            <a:r>
              <a:rPr lang="ko-KR" alt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김홍진</a:t>
            </a:r>
            <a:endParaRPr lang="ko-KR" altLang="en-US" sz="1500" b="0" i="0" u="none" strike="noStrike" cap="none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95287" y="1918394"/>
            <a:ext cx="11401425" cy="319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제8회 교육 공공데이터</a:t>
            </a:r>
            <a:r>
              <a:rPr lang="ko-KR" altLang="en-US" sz="21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AI 활용대회</a:t>
            </a:r>
            <a:endParaRPr lang="en-US" sz="2100" b="1" i="0" u="none" strike="noStrike" cap="none">
              <a:solidFill>
                <a:srgbClr val="47556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95287" y="2489894"/>
            <a:ext cx="11401425" cy="142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넷제로 데이터 랩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1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Net-Zero Data Lab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4295775"/>
            <a:ext cx="10858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공공데이터와 AI로 구현하는 과정 중심 데이터 리터러시 플랫폼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추진 배경: 기후 위기 시대의 데이터 문해력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2100262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정적인 환경 교육의 한계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6443" y="2562135"/>
            <a:ext cx="5680982" cy="2184628"/>
          </a:xfrm>
          <a:prstGeom prst="rect">
            <a:avLst/>
          </a:prstGeom>
          <a:noFill/>
          <a:ln>
            <a:noFill/>
          </a:ln>
        </p:spPr>
        <p:txBody>
          <a:bodyPr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이론 중심의 일방향적 환경 교육으로 인한 학습 몰입도 저하</a:t>
            </a: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공공데이터에 대한 접근성은 높으나 실제 교육 현장 활용 사례 부족</a:t>
            </a: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학생들이 직접 데이터를 </a:t>
            </a:r>
            <a:r>
              <a:rPr lang="ko-KR" alt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조사하고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분석하는 실질적 경험의 부재</a:t>
            </a: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6000" y="1956922"/>
            <a:ext cx="5614837" cy="3523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67000"/>
            <a:ext cx="5191125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67000"/>
            <a:ext cx="519112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시장 니즈: 교사와 학생의 페인 포인트(PAIN POINT)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24187" y="29622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47010" y="35337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교사의 행정 부담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405765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학생 개별 활동 기록 및 생활기록부 세특 작성을 위한 정성적 평가 데이터 부족 및 시간 과부하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0" y="29622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514385" y="35337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학생의 학습 경험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29400" y="4057650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리터러시 역량 강화의 필요성은 높으나, 실생활과 밀접한 데이터 탐구 도구의 부재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서비스 개념: 탐험하며 성장하는 데이터 리터러시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66750" y="3152775"/>
            <a:ext cx="5191125" cy="1514475"/>
          </a:xfrm>
          <a:prstGeom prst="roundRect">
            <a:avLst>
              <a:gd fmla="val 7547" name="adj"/>
            </a:avLst>
          </a:prstGeom>
          <a:solidFill>
            <a:srgbClr val="F1F5F9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334125" y="3152775"/>
            <a:ext cx="54506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Net-Zero Data Lab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34124" y="3562350"/>
            <a:ext cx="5191125" cy="1095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Big6 정보활용모델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을 웹 플랫폼에 이식하여, 학생들이 데이터 탐정이 되어 기후 위기 데이터를 사냥하고 AI의 도움을 받아 성찰하는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온라인 탐구 전용 </a:t>
            </a:r>
            <a:r>
              <a:rPr lang="ko-KR" alt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</a:t>
            </a:r>
            <a:endParaRPr lang="en-US" sz="1500" b="0" i="0" u="none" strike="noStrike" cap="non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가로 글상자 130"/>
          <p:cNvSpPr txBox="1"/>
          <p:nvPr/>
        </p:nvSpPr>
        <p:spPr>
          <a:xfrm>
            <a:off x="876979" y="3678464"/>
            <a:ext cx="4700362" cy="72018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>
                <a:hlinkClick r:id="rId4"/>
              </a:rPr>
              <a:t>https://ses5848-commits.github.io/netzero/</a:t>
            </a:r>
            <a:endParaRPr lang="en-US" altLang="en-US"/>
          </a:p>
          <a:p>
            <a:pPr lvl="0">
              <a:defRPr/>
            </a:pPr>
            <a:endParaRPr lang="en-US" altLang="en-US"/>
          </a:p>
          <a:p>
            <a:pPr lvl="0">
              <a:defRPr/>
            </a:pPr>
            <a:r>
              <a:rPr lang="ko-KR" altLang="en-US"/>
              <a:t>링크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543175"/>
            <a:ext cx="34607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2543175"/>
            <a:ext cx="34607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43175"/>
            <a:ext cx="3460849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교육적 설계: BIG6 정보활용모델의 플랫폼화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66750" y="4781550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결과물이 아닌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'과정 중심 평가'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 가능한 단계적 UI 설계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90271" y="2838450"/>
            <a:ext cx="301365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Step 1-2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3305175"/>
            <a:ext cx="2870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미션 정의 및 데이터 탐색 전략 수립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589096" y="2838450"/>
            <a:ext cx="301365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Step 3-4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60850" y="3305175"/>
            <a:ext cx="2870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공공데이터 수집 및 차트 시각화 분석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287918" y="2838450"/>
            <a:ext cx="301381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Step 5-6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246280" y="3305175"/>
            <a:ext cx="311976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지식 공유(인포그래픽) 및 AI 기반 성찰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공공데이터 활용 (1): 실시간 국가 데이터 연동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66750" y="2190750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연동 데이터 API 목록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81075" y="26193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47750" y="26193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기상청 자료개방포털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기온 변화 추이 데이터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81075" y="29241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47750" y="29241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한국환경공단(에어코리아)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실시간 대기오염도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81075" y="32289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47750" y="32289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공공데이터포털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지역별 탄소 배출량 통계</a:t>
            </a:r>
            <a:endParaRPr/>
          </a:p>
        </p:txBody>
      </p:sp>
      <p:pic>
        <p:nvPicPr>
          <p:cNvPr id="164" name="그림 16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05186" y="1643839"/>
            <a:ext cx="6294665" cy="4046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공공데이터 활용 (2): 학생 생성 데이터의 가치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3133725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데이터의 융합과 축적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3581400"/>
            <a:ext cx="5191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국가 공공데이터뿐만 아니라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학생들이 직접 입력하는 뉴스 토론 댓글, 환경 설문조사, 탐구 질문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등의 비정형 데이터를 정형화하여 학교/학급 단위의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'작은 공공데이터'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로 재생산합니다.</a:t>
            </a:r>
            <a:endParaRPr/>
          </a:p>
        </p:txBody>
      </p:sp>
      <p:pic>
        <p:nvPicPr>
          <p:cNvPr id="174" name="그림 173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490354" y="1538786"/>
            <a:ext cx="2520315" cy="2484310"/>
          </a:xfrm>
          <a:prstGeom prst="rect">
            <a:avLst/>
          </a:prstGeom>
        </p:spPr>
      </p:pic>
      <p:pic>
        <p:nvPicPr>
          <p:cNvPr id="175" name="그림 174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3054077" y="1528255"/>
            <a:ext cx="2520315" cy="2484310"/>
          </a:xfrm>
          <a:prstGeom prst="rect">
            <a:avLst/>
          </a:prstGeom>
        </p:spPr>
      </p:pic>
      <p:pic>
        <p:nvPicPr>
          <p:cNvPr id="176" name="그림 175"/>
          <p:cNvPicPr/>
          <p:nvPr/>
        </p:nvPicPr>
        <p:blipFill rotWithShape="1">
          <a:blip r:embed="rId6"/>
          <a:stretch>
            <a:fillRect/>
          </a:stretch>
        </p:blipFill>
        <p:spPr>
          <a:xfrm>
            <a:off x="516614" y="4024091"/>
            <a:ext cx="2520315" cy="2484310"/>
          </a:xfrm>
          <a:prstGeom prst="rect">
            <a:avLst/>
          </a:prstGeom>
        </p:spPr>
      </p:pic>
      <p:pic>
        <p:nvPicPr>
          <p:cNvPr id="177" name="그림 176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3055572" y="4024965"/>
            <a:ext cx="2520315" cy="2484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5E2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133725"/>
            <a:ext cx="5191125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혁신 기술 (1): 비정형 데이터 분석 엔진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66750" y="3133725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NLP 기반 활동 로그 분석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66750" y="3581400"/>
            <a:ext cx="5191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학생이 남긴 방대한 양의 텍스트 로그(뉴스 댓글, 질문, 해석 요약)를 LLM(거대언어모델) API를 통해 실시간 분석하여 학습자의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비판적 사고력</a:t>
            </a:r>
            <a:r>
              <a:rPr b="0" i="0" lang="en-US" sz="1500" u="none" cap="none" strike="noStrike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처리 역량</a:t>
            </a:r>
            <a:r>
              <a:rPr b="0" i="0" lang="en-US" sz="1500" u="none" cap="none" strike="noStrike">
                <a:solidFill>
                  <a:srgbClr val="DAFFDE"/>
                </a:solidFill>
                <a:latin typeface="Noto Sans KR"/>
                <a:ea typeface="Noto Sans KR"/>
                <a:cs typeface="Noto Sans KR"/>
                <a:sym typeface="Noto Sans KR"/>
              </a:rPr>
              <a:t>을 수치화합니다.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3152775"/>
            <a:ext cx="515302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AI 혁신 기술 (2): AI 생기부 초안 생성기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334125" y="2905125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교사 행정 업무의 혁신적 절감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334125" y="4419600"/>
            <a:ext cx="5191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B5E20"/>
                </a:solidFill>
                <a:latin typeface="Noto Sans KR"/>
                <a:ea typeface="Noto Sans KR"/>
                <a:cs typeface="Noto Sans KR"/>
                <a:sym typeface="Noto Sans KR"/>
              </a:rPr>
              <a:t>"교사의 관찰 기록에 객관적 데이터의 힘을 더합니다."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648450" y="33147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15125" y="33147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학생별 활동 로그 데이터 매핑 알고리즘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648450" y="3619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15125" y="36195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교육부 핵심 역량 연계 키워드 추출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648450" y="3924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15125" y="39243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개인별 맞춤형 세특(생활기록부) 초안 자동 생성</a:t>
            </a:r>
            <a:endParaRPr/>
          </a:p>
        </p:txBody>
      </p:sp>
      <p:pic>
        <p:nvPicPr>
          <p:cNvPr id="201" name="그림 20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19294" y="2065343"/>
            <a:ext cx="5676705" cy="34639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학습 몰입: 게이미피케이션 및 마이페이지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66750" y="5424487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배지 시스템(질문 술사 ~ 최종 마스터)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을 통한 자기주도적 완주 유도</a:t>
            </a:r>
            <a:endParaRPr/>
          </a:p>
        </p:txBody>
      </p:sp>
      <p:pic>
        <p:nvPicPr>
          <p:cNvPr id="212" name="그림 211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666478" y="1873281"/>
            <a:ext cx="3384423" cy="3492436"/>
          </a:xfrm>
          <a:prstGeom prst="rect">
            <a:avLst/>
          </a:prstGeom>
        </p:spPr>
      </p:pic>
      <p:pic>
        <p:nvPicPr>
          <p:cNvPr id="213" name="그림 212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4403788" y="1858975"/>
            <a:ext cx="3384423" cy="3492436"/>
          </a:xfrm>
          <a:prstGeom prst="rect">
            <a:avLst/>
          </a:prstGeom>
        </p:spPr>
      </p:pic>
      <p:pic>
        <p:nvPicPr>
          <p:cNvPr id="214" name="그림 213"/>
          <p:cNvPicPr/>
          <p:nvPr/>
        </p:nvPicPr>
        <p:blipFill rotWithShape="1">
          <a:blip r:embed="rId6"/>
          <a:stretch>
            <a:fillRect/>
          </a:stretch>
        </p:blipFill>
        <p:spPr>
          <a:xfrm>
            <a:off x="7995833" y="1864203"/>
            <a:ext cx="3384423" cy="3492436"/>
          </a:xfrm>
          <a:prstGeom prst="rect">
            <a:avLst/>
          </a:prstGeom>
        </p:spPr>
      </p:pic>
      <p:pic>
        <p:nvPicPr>
          <p:cNvPr id="215" name="그림 21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53581" y="3066143"/>
            <a:ext cx="3189669" cy="2329499"/>
          </a:xfrm>
          <a:prstGeom prst="rect">
            <a:avLst/>
          </a:prstGeom>
        </p:spPr>
      </p:pic>
      <p:pic>
        <p:nvPicPr>
          <p:cNvPr id="216" name="그림 2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407472" y="3085587"/>
            <a:ext cx="3377054" cy="2418658"/>
          </a:xfrm>
          <a:prstGeom prst="rect">
            <a:avLst/>
          </a:prstGeom>
        </p:spPr>
      </p:pic>
      <p:pic>
        <p:nvPicPr>
          <p:cNvPr id="217" name="그림 2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103054" y="3429000"/>
            <a:ext cx="3264486" cy="2048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사용자 여정: 학생과 교사의 상호작용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3"/>
          <p:cNvGraphicFramePr/>
          <p:nvPr/>
        </p:nvGraphicFramePr>
        <p:xfrm>
          <a:off x="666750" y="2819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{FDC92447-B1EC-4B3B-B761-2FE88C7906CC}</a:tableStyleId>
              </a:tblPr>
              <a:tblGrid>
                <a:gridCol w="1020525"/>
                <a:gridCol w="4537325"/>
                <a:gridCol w="5291125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학생 활동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교사/AI 지원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준비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사전 설문 및 모둠 합류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학급 역량 사전 분석 데이터 제공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탐구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공공데이터 수집 및 그래프 시각화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해석 가이드 및 질문 마법사 지원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 성찰 및 수료증 획득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세특 초안 자동 생성 및 대시보드 관리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857250" y="4762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확장성: 에듀테크 생태계로의 발전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666750" y="476250"/>
            <a:ext cx="95250" cy="581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66750" y="3171825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Urbanist"/>
                <a:ea typeface="Urbanist"/>
                <a:cs typeface="Urbanist"/>
                <a:sym typeface="Urbanist"/>
              </a:rPr>
              <a:t>범용성 및 수익 모델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981075" y="35814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1047750" y="35814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범용성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과학 외 사회, 수학 등 전 교과 데이터 교육 확장 가능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981075" y="38862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1047750" y="38862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B2G 모델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시도교육청 단위의 교육 플랫폼 SaaS 공급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981075" y="4191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1047750" y="41910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커스터마이징</a:t>
            </a:r>
            <a:r>
              <a:rPr b="0" i="0" lang="en-US" sz="15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학교별 특색 환경 주제에 맞춘 탐구 모듈 제공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/>
        </p:nvSpPr>
        <p:spPr>
          <a:xfrm>
            <a:off x="395287" y="1127819"/>
            <a:ext cx="11401425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넷제로 데이터 랩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666750" y="2430809"/>
            <a:ext cx="108585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"데이터로 읽고 AI로 기록하는,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지속 가능한 미래 교육의 시작입니다."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395287" y="4663231"/>
            <a:ext cx="11401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381</ep:Words>
  <ep:PresentationFormat/>
  <ep:Paragraphs>80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2026-05-15T10:22:29.370</dcterms:modified>
  <cp:revision>13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